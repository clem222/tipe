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9539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7212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77117238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6180625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413077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1855568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0867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991699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2495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719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3581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593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634C64-BBDC-7476-F821-1E35ADF232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185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4308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427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501FC5-BAAB-9E18-D753-7A5D58392F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91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913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62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965EDA-6E00-6007-3D75-B041BE4251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724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5829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004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FCE971-2FD4-5BDE-7DDA-FE1E9B8C16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960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870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258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6EA0DD-775B-14FD-2A7F-CCDCBDB6D4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812404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45575393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18435682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4814828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52543403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18672752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030716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856060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45313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611341742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9786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225854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87703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670150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645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48838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429303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234276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720855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5327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682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9652282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755761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675830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88102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9432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0294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656689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458635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6176727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9726170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4574008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124883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6295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5959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45235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351603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92203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0760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385794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45229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188813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68879350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7618941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287494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886365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902542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019858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7723860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9203703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219233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063623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559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3433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2616093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986332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83780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1816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84583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1631219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844509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268155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467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9589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15502654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63164640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79036387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990086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638019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787817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015362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126598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	Problème du voyageur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77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Enoncé</a:t>
            </a:r>
            <a:endParaRPr/>
          </a:p>
        </p:txBody>
      </p:sp>
      <p:pic>
        <p:nvPicPr>
          <p:cNvPr id="5962455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095999" y="1417638"/>
            <a:ext cx="3964454" cy="4261788"/>
          </a:xfrm>
          <a:prstGeom prst="rect">
            <a:avLst/>
          </a:prstGeom>
        </p:spPr>
      </p:pic>
      <p:sp>
        <p:nvSpPr>
          <p:cNvPr id="1292745178" name=""/>
          <p:cNvSpPr txBox="1"/>
          <p:nvPr/>
        </p:nvSpPr>
        <p:spPr bwMode="auto">
          <a:xfrm rot="0" flipH="0" flipV="0">
            <a:off x="925113" y="2727613"/>
            <a:ext cx="4698366" cy="2012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n villes à parcourir une seule fois chacune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Le chemin entre deux villes est pondéré par une distance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objectif : trouver le chemin le plus court pour voyager au travers toutes les villes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1669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Exemple simple</a:t>
            </a:r>
            <a:endParaRPr/>
          </a:p>
        </p:txBody>
      </p:sp>
      <p:pic>
        <p:nvPicPr>
          <p:cNvPr id="14147012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636" y="2473373"/>
            <a:ext cx="3912499" cy="3869267"/>
          </a:xfrm>
          <a:prstGeom prst="rect">
            <a:avLst/>
          </a:prstGeom>
        </p:spPr>
      </p:pic>
      <p:pic>
        <p:nvPicPr>
          <p:cNvPr id="129541275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65908" y="1600201"/>
            <a:ext cx="4603749" cy="45542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727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Modélisation par graphe</a:t>
            </a:r>
            <a:endParaRPr/>
          </a:p>
        </p:txBody>
      </p:sp>
      <p:sp>
        <p:nvSpPr>
          <p:cNvPr id="145911762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5092445" cy="4525962"/>
          </a:xfrm>
        </p:spPr>
        <p:txBody>
          <a:bodyPr/>
          <a:lstStyle/>
          <a:p>
            <a:pPr>
              <a:defRPr/>
            </a:pPr>
            <a:r>
              <a:rPr lang="fr-FR"/>
              <a:t>Poids entre chaque point</a:t>
            </a:r>
            <a:endParaRPr lang="fr-FR"/>
          </a:p>
          <a:p>
            <a:pPr>
              <a:defRPr/>
            </a:pPr>
            <a:endParaRPr/>
          </a:p>
          <a:p>
            <a:pPr>
              <a:defRPr/>
            </a:pPr>
            <a:r>
              <a:rPr lang="fr-FR"/>
              <a:t>Version symétrique du problème</a:t>
            </a:r>
            <a:endParaRPr lang="fr-FR"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fr-FR"/>
              <a:t> Exemple de chemin </a:t>
            </a:r>
            <a:endParaRPr lang="fr-FR"/>
          </a:p>
          <a:p>
            <a:pPr marL="0" indent="0">
              <a:buFont typeface="Arial"/>
              <a:buNone/>
              <a:defRPr/>
            </a:pPr>
            <a:r>
              <a:rPr lang="fr-FR"/>
              <a:t>(A, B, C, E, D, </a:t>
            </a:r>
            <a:r>
              <a:rPr lang="fr-FR"/>
              <a:t>F, G, H, I, J)</a:t>
            </a:r>
            <a:endParaRPr/>
          </a:p>
        </p:txBody>
      </p:sp>
      <p:pic>
        <p:nvPicPr>
          <p:cNvPr id="5490163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05508" y="1948295"/>
            <a:ext cx="5570491" cy="41778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4989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Complexité du problème / Solutions</a:t>
            </a:r>
            <a:endParaRPr/>
          </a:p>
        </p:txBody>
      </p:sp>
      <p:sp>
        <p:nvSpPr>
          <p:cNvPr id="131855141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3937899" cy="4525962"/>
          </a:xfrm>
        </p:spPr>
        <p:txBody>
          <a:bodyPr/>
          <a:lstStyle/>
          <a:p>
            <a:pPr>
              <a:defRPr/>
            </a:pPr>
            <a:r>
              <a:rPr lang="fr-FR"/>
              <a:t>Complexité en O(n !) </a:t>
            </a:r>
            <a:endParaRPr lang="fr-FR"/>
          </a:p>
          <a:p>
            <a:pPr marL="0" indent="0">
              <a:buFont typeface="Arial"/>
              <a:buNone/>
              <a:defRPr/>
            </a:pPr>
            <a:r>
              <a:rPr lang="fr-FR"/>
              <a:t>  </a:t>
            </a:r>
            <a:r>
              <a:rPr lang="fr-FR"/>
              <a:t>(1/2) *(n-1)!</a:t>
            </a:r>
            <a:endParaRPr lang="fr-FR"/>
          </a:p>
        </p:txBody>
      </p:sp>
      <p:sp>
        <p:nvSpPr>
          <p:cNvPr id="814618474" name=""/>
          <p:cNvSpPr txBox="1"/>
          <p:nvPr/>
        </p:nvSpPr>
        <p:spPr bwMode="auto">
          <a:xfrm rot="0" flipH="0" flipV="0">
            <a:off x="5355681" y="1789545"/>
            <a:ext cx="5379086" cy="3383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b="1" u="none"/>
              <a:t>Algorithmes envisageables : </a:t>
            </a:r>
            <a:endParaRPr b="1" u="none"/>
          </a:p>
          <a:p>
            <a:pPr>
              <a:defRPr/>
            </a:pP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Algorithme glouton</a:t>
            </a:r>
            <a:endParaRPr lang="fr-FR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Force brute (O(n !)</a:t>
            </a:r>
            <a:endParaRPr lang="fr-FR"/>
          </a:p>
          <a:p>
            <a:pPr>
              <a:defRPr/>
            </a:pPr>
            <a:endParaRPr lang="fr-FR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programmation dynamique Held-karp (O(n²*</a:t>
            </a:r>
            <a:r>
              <a:rPr lang="fr-FR"/>
              <a:t>2^n</a:t>
            </a:r>
            <a:r>
              <a:rPr lang="fr-FR"/>
              <a:t>)</a:t>
            </a:r>
            <a:endParaRPr lang="fr-FR"/>
          </a:p>
          <a:p>
            <a:pPr>
              <a:defRPr/>
            </a:pPr>
            <a:endParaRPr lang="fr-FR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k plus proches voisins</a:t>
            </a:r>
            <a:endParaRPr lang="fr-FR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Colonnie de fourmis</a:t>
            </a:r>
            <a:endParaRPr lang="fr-FR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Algorithme génétique</a:t>
            </a:r>
            <a:endParaRPr lang="fr-FR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Apprentissage machine (reinforcement learning)</a:t>
            </a:r>
            <a:endParaRPr lang="fr-FR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GNN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39559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718181" y="2540433"/>
            <a:ext cx="894772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fr-FR"/>
              <a:t>Fin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2025-09-24T14:51:35Z</dcterms:modified>
</cp:coreProperties>
</file>